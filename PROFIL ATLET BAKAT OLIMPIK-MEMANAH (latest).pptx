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27"/>
  </p:notesMasterIdLst>
  <p:sldIdLst>
    <p:sldId id="280" r:id="rId2"/>
    <p:sldId id="279" r:id="rId3"/>
    <p:sldId id="259" r:id="rId4"/>
    <p:sldId id="260" r:id="rId5"/>
    <p:sldId id="261" r:id="rId6"/>
    <p:sldId id="284" r:id="rId7"/>
    <p:sldId id="262" r:id="rId8"/>
    <p:sldId id="265" r:id="rId9"/>
    <p:sldId id="269" r:id="rId10"/>
    <p:sldId id="273" r:id="rId11"/>
    <p:sldId id="274" r:id="rId12"/>
    <p:sldId id="281" r:id="rId13"/>
    <p:sldId id="277" r:id="rId14"/>
    <p:sldId id="271" r:id="rId15"/>
    <p:sldId id="283" r:id="rId16"/>
    <p:sldId id="256" r:id="rId17"/>
    <p:sldId id="270" r:id="rId18"/>
    <p:sldId id="266" r:id="rId19"/>
    <p:sldId id="282" r:id="rId20"/>
    <p:sldId id="275" r:id="rId21"/>
    <p:sldId id="276" r:id="rId22"/>
    <p:sldId id="264" r:id="rId23"/>
    <p:sldId id="268" r:id="rId24"/>
    <p:sldId id="272" r:id="rId25"/>
    <p:sldId id="278" r:id="rId26"/>
  </p:sldIdLst>
  <p:sldSz cx="9144000" cy="6858000" type="screen4x3"/>
  <p:notesSz cx="6797675" cy="9928225"/>
  <p:defaultTextStyle>
    <a:defPPr>
      <a:defRPr lang="ms-MY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07" autoAdjust="0"/>
    <p:restoredTop sz="96170" autoAdjust="0"/>
  </p:normalViewPr>
  <p:slideViewPr>
    <p:cSldViewPr>
      <p:cViewPr varScale="1">
        <p:scale>
          <a:sx n="118" d="100"/>
          <a:sy n="118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329C76-B1EF-FA32-2E3F-4BD3F076DE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C06190-40CE-BDAD-F759-9323EF4C967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BC79AD-2B85-8649-8F8D-68DB370B3AE3}" type="datetimeFigureOut">
              <a:rPr lang="en-US"/>
              <a:pPr>
                <a:defRPr/>
              </a:pPr>
              <a:t>4/12/26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E71431-C868-4866-305C-564AC3E7D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3CD281-A860-2EC5-0EC1-F6EA7E11C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EA8C8-754D-DE5D-9104-5034F18438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9970E-F7E7-BBF1-36E9-9B8DE7006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F98CDD3-D5AB-9A40-9A88-EF09E08B784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D049FC7F-D2CB-B199-03FE-36915BB1C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93EF27BF-C667-D038-61BD-36B8DA43E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MY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24270E1-BE62-46A9-4C9A-011AF7FAE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5F6067D-8726-4546-A5AC-E2286CD126F5}" type="slidenum">
              <a:rPr lang="en-MY" altLang="en-US"/>
              <a:pPr/>
              <a:t>14</a:t>
            </a:fld>
            <a:endParaRPr lang="en-MY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03B60BDD-A184-2EE5-2112-346BEC4A1D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333E5BCF-8CF6-884F-1A6D-6FFEE391D3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D2971B54-3393-AEFF-5257-9AF8CAF5E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A8FAABF-D883-1448-B710-EA27C8F94BCE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ms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8B353-C1F3-3BC6-1339-61FFFCA7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E8640-4F36-CF4E-8450-BF1777586A97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4F54A-ADD6-3DF1-8370-45B36D6A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6C74-620C-5C94-80FE-059EA32E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D93E68-00C1-4344-BF6D-33C28482E077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98510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75700-2D00-8A8E-9C79-65AD481C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CB055-0562-DD4A-A9B6-32F75661A5D4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EA92B-5899-A21D-AABA-1C4BBF12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C9A4-1421-F9C8-BA8D-C33D2D54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5829B-A004-614D-BD10-004E99377478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36306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FE887-F810-4EB8-DC7D-14E5F50B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005CA-A1E7-9A48-AA82-1FE762D10960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4F8F-35E9-479C-CCBA-A3D7A4A9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72F66-3E1F-09E6-B34E-64955B6B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F7947A-8B19-4F43-AEBF-1C85C5FDDCA2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232834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19CB67D-03E1-3E3C-BC34-A3D377A0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429BF-1F41-7042-82AB-32003AE67A21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B36109-436B-738E-7045-2901D098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B9F504-0BC1-BE7B-DE8A-F22F14F6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1139E-AA47-3B41-9BC7-B2DF21E72EB6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274514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9DAD8CD-E7F5-7FC4-E722-748309DE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DFD78-0E53-884D-9503-392685099BA0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0CBF03E-3A34-58CB-FE06-2DDF9C8A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9EEB45-C2C3-E0A6-316F-ABCF605A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7EE454-7648-4C40-91F0-53D83050B570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30369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43959BE-87EB-CC9E-C015-DA21424C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6F079-2B8A-C849-BBC3-00972290F46F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CF9AF2-AC15-F783-BE69-CDC9C8DF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02EA5A-84C7-82F3-91FA-ADFFF4AA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1277A-3FFE-E648-9595-563865F03BB7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221312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61D9126-12C9-471E-D3E3-034441D1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3ED1B-3A20-2F49-A4D3-EF5095533433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E3263DE-FA86-9452-7708-EB4DCC7A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9A521-6D7F-2F37-A364-CDA617B1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B5888C-4973-0042-93FB-B4F21D8DC254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689599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6EC9FA4-956A-2CC1-E8BE-C5B659FA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F79B6-792B-8549-8FF8-8B74E378FC44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FC8BF4-9825-5B3F-E0B5-C411A301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0AF0E5-BD4B-24ED-38E2-463121B1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48FF8-C467-A14B-A085-493B33FBE3AA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210623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ms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BDF6DC3-04D2-5CF7-627D-2390F0D3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887974-5058-924D-88E3-23F78DCD8294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3970DD3-ED27-931E-16D5-FBA10ABD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C1BE25-9A52-2D82-99DC-DA91DB1E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1A0B99-B59D-AC4C-9FFA-144E61769EBF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420356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DC468-F55F-1FF5-BB51-03F71B61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26BC1-BEE9-BC4F-853E-5F088AD3101E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186A9-8F4E-6847-1D2E-859FB4DD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CB1B2-468B-B45B-2855-C318ED64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3ABBC-F2AC-4548-B217-C3647C27A75B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021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s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s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8313-215E-20DE-0A30-97981303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3B8EA-207D-6747-8489-D3786CE5BD11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2A011-0B01-D747-91BA-0D0DB15A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8D998-52DE-5B89-5C62-8FB04110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F2313-B20E-3A4D-9588-CB83B8BC02AB}" type="slidenum">
              <a:rPr lang="ms-MY" altLang="en-US"/>
              <a:pPr/>
              <a:t>‹#›</a:t>
            </a:fld>
            <a:endParaRPr lang="ms-MY" altLang="en-US"/>
          </a:p>
        </p:txBody>
      </p:sp>
    </p:spTree>
    <p:extLst>
      <p:ext uri="{BB962C8B-B14F-4D97-AF65-F5344CB8AC3E}">
        <p14:creationId xmlns:p14="http://schemas.microsoft.com/office/powerpoint/2010/main" val="375252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2782E85-C346-0250-20BC-0D7D329F747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ms-MY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30B5B58-48C0-3737-E2E2-DEDB63859C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ms-MY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2B50A-F9A6-5E4B-366C-C2625E1C3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1C1CA68E-3604-424E-AB89-B3B4A8DD7DC8}" type="datetimeFigureOut">
              <a:rPr lang="ms-MY"/>
              <a:pPr>
                <a:defRPr/>
              </a:pPr>
              <a:t>12/04/26</a:t>
            </a:fld>
            <a:endParaRPr lang="ms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6B28-6A65-F0A0-D450-DBA56A493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9768E-F332-84EE-5492-85E57FDA5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CD31BB3-D824-6D48-A386-1497079BD8AD}" type="slidenum">
              <a:rPr lang="ms-MY" altLang="en-US"/>
              <a:pPr/>
              <a:t>‹#›</a:t>
            </a:fld>
            <a:endParaRPr lang="ms-MY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ms-M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DBE6369F-784C-2562-2D86-CE565DB2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en-US" sz="4800">
                <a:latin typeface="Britannic Bold" panose="020B0903060703020204" pitchFamily="34" charset="77"/>
              </a:rPr>
              <a:t>PROFILE ATLET MEMANAH</a:t>
            </a:r>
          </a:p>
        </p:txBody>
      </p:sp>
      <p:pic>
        <p:nvPicPr>
          <p:cNvPr id="3075" name="Content Placeholder 3">
            <a:extLst>
              <a:ext uri="{FF2B5EF4-FFF2-40B4-BE49-F238E27FC236}">
                <a16:creationId xmlns:a16="http://schemas.microsoft.com/office/drawing/2014/main" id="{E25FFA9B-953D-2F39-3E8C-3EAEB8AD29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2163" y="2366963"/>
            <a:ext cx="5019675" cy="299085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E6A252-57CA-7513-413A-2A5C2CEAB8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381125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IKMAL DZARIFF BIN AZIZI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100416-06-0735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LELAKI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348F84-1FEF-A683-9AFC-372D045B4DF1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5733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6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PAHANG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54 KG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169 CM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 SUKAN MALAYSIA PAHANG, GAMBANG, PAHANG.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FAZLI HISHAM BIN FAUZI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019-9160936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0E686E-CC80-FAA8-F7BC-3758BA6698D6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781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5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MSSM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12-18 SEPT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MEN U15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 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SIPMA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3-7 SEPT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MEN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 &amp; 1 PERAK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BAKAT OLIMPIK SIRI 1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25 – 29 JUN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MEN U15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 &amp; 1 PERAK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 KEB.  U12 &amp; U15 SIRI 2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6-13 FEB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MEN U15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 KEB.  U12 &amp; U15 SIRI 1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17-19 JAN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MEN U15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92B458-E50A-7272-0470-03525000B0D2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D0C978A-E9F2-3D96-3E17-F2EBD25D04EB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A893A8-76E7-DEA7-04AF-61E44F10A39D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9760C7-4A4A-CF66-6459-6B910922A589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MEMPUNYAI DISIPLIN DAN KAREKTER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MEMANAH YANG BAIK DAN MUDAH DIBENTUK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MEMPUNYAI POSTUR BADAN DAN KEKUATAN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BERPOTENSI PENINGKATAN PRESTASI YANG LEBIH BAIK PADA MASA AKAN DATANG SEKIRANYA BERLATIH DENGAN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CARA SHOOTING YANG MUDAH DAN SENANG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31" name="Picture 2">
            <a:extLst>
              <a:ext uri="{FF2B5EF4-FFF2-40B4-BE49-F238E27FC236}">
                <a16:creationId xmlns:a16="http://schemas.microsoft.com/office/drawing/2014/main" id="{DF043963-296B-B781-2F8D-15CD43DDE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1762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75ACA0-2F6F-0FBF-8620-97DB3E8A6F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381125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0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AEDAN CHAW ZHENG ZHE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101129-12-0867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51" marB="4575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92F82D-FA7F-7F9B-2609-0EAC5FFA807B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SABAH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56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172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 TINGGI KOTA KINABALU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CHAW KEN WEE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016 - 8782873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65FD66-52A6-E402-B86F-CD5B18D2DEBA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KE-4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1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Julai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SUKAN SABAH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792F9E-A49E-6E79-E7C3-B465D724771F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457E0AD-4C04-33C1-872B-676E15EA0D02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B9D0C-64A3-7933-6E13-3F922C102281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9CF65F6-442A-13BF-7A9F-6DE840A92974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MEMPUNYAI DISPLIN YANG BAIK DAN MENGIKUT ARAHAN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KONSISTEN TETAPI PERLU PENAMBAHBAIKAN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PERLU TINGKATKAN KEKUATAN  DAN DAYA TAHAN OTOT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BOLEH TERUS MAJU SEKIRANYA LATIHAN YANG KONSISITEN DAN BANTUAN KEJURULATIHAN UNTUK KEMAHIRAN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255" name="Picture 1">
            <a:extLst>
              <a:ext uri="{FF2B5EF4-FFF2-40B4-BE49-F238E27FC236}">
                <a16:creationId xmlns:a16="http://schemas.microsoft.com/office/drawing/2014/main" id="{567288FD-3C4A-68C6-9D82-9E969F22A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176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FFBBA9-4951-A4F3-D023-90E4467B7D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AHMED KHALIF FERHAD BIN AHMED FEROZ </a:t>
                      </a:r>
                      <a:endParaRPr kumimoji="0" lang="ms-MY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100218-10-1065 </a:t>
                      </a:r>
                      <a:endParaRPr kumimoji="0" lang="ms-MY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185441-FA4D-B388-2B09-33EDEE7B4D00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KELANTAN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95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178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DATUK HAJI ABDUL SAMAD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ABD RAZAK YAACOB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017-9250454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E9F52C-2472-54F6-379B-6D7F45838D4D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MSSNS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Julai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2025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Ke-12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SUKAN </a:t>
                      </a: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KELANTAN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E4404A-2273-0216-8AE2-445F1895E11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4761808-B1D4-6F70-EFB9-458530F2F900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BF155-293D-FDF4-7F9A-BCF943CE159C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310AD45-A809-34CD-48BE-42B2371068AD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DISIPLIN YANG BAIK TETAPI KURANG PERGAULAN DAN KOMUNIKASI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POSTUR BADAN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PERALATAN YANG DIGUNAKAN KURANG SESUAI ATAS SEBAB FAKTOR FIZIKAL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MEMERLUKAN LATIHAN YANG KONSISTEN DAN PERALATAN YANG BERSESUAIAN UNTUK LEBIH MAJU DALAM PRESTASI</a:t>
                      </a: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79" name="TextBox 1">
            <a:extLst>
              <a:ext uri="{FF2B5EF4-FFF2-40B4-BE49-F238E27FC236}">
                <a16:creationId xmlns:a16="http://schemas.microsoft.com/office/drawing/2014/main" id="{660142AF-3707-306A-CEC5-B3A3E8BBA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51301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6280" name="Picture 1">
            <a:extLst>
              <a:ext uri="{FF2B5EF4-FFF2-40B4-BE49-F238E27FC236}">
                <a16:creationId xmlns:a16="http://schemas.microsoft.com/office/drawing/2014/main" id="{7341B185-4050-36B8-BEA2-72F253A8E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96838"/>
            <a:ext cx="1308100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A3005-DFC2-E566-9A2A-EBAF75DEC9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MUHAMMAD TAUFIQ AS-SYIFA’ BIN MOHAMED SHAM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090326-10-1197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14B3DD-5D16-A497-812E-B42EBC98598B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JOHOR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88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17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MK BANDAR T6, KLUANG JOHOR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NORWAHYU BINTI ABDUL WAHAB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016 -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4732324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654CD8-70F1-D70B-1531-5DC327264C67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781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5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12-18 SEPT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- 70M &amp; 60M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 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1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17-20 JUL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- 70M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IPMA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3-7 SEPT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- 70M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13-16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OV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-60M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KMK GRAND FINAL, NILAI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2-5 OKT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70M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RANKING 8 QR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A3B7A04-52C5-0CC8-50E1-5792D1DAF70C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5D639AD-0A6D-9790-129B-2CC5DED5D003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C454D9-9E39-94CF-E393-647DBF5A3FBE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B7B0D5-3F1B-D411-832B-B7C23E343D25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BERDISIPLIN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MEMPUNYAI FIZIKAL DAN KEKUATAN OTOT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KEMAHIRAN MEMANAH YANG BAIK DAN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TINGKATKAN KEKUATAN MENTAL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PERLU LEBIH MATANG DALAM MEMBUAT KEPUTUSAN DAN BICARA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303" name="Picture 1">
            <a:extLst>
              <a:ext uri="{FF2B5EF4-FFF2-40B4-BE49-F238E27FC236}">
                <a16:creationId xmlns:a16="http://schemas.microsoft.com/office/drawing/2014/main" id="{FE5A67BE-705A-CA86-A69E-FB9E82492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15888"/>
            <a:ext cx="1336675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44F91D-1993-6EA1-850A-020040B9EA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MUHAMAD FAIEQ AQIEF BIN RUSTAM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110517-12-0759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3810E5-F17D-3567-A72C-B1E80E41B771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SABAH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14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71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167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MADAI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SYAMSUL BAHRI BIN AMIRUDDIN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013-8869915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6C0FD-0E18-7CE0-D350-3899B1DDD67B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38425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3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7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 BAKAT OLIMPIK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SIRI 1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25-29 JUN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RANK 6 - 1278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0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KMK U12 &amp; U15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SIRI 3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3-5 JUL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RANK 3 - 1241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4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12-18 SEP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RANK 14 - 1293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0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SABAH GAMES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12-16 OKT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RANK 2 - 618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 BAKAT OLIMPIK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SIRI 2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13-16 NOV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RANK 5 - 646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5829D1-CD0A-0524-6A93-9CF6DEB5BC5F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B7C2A44-083D-3FB7-0B00-B6D3B0D35C32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058F24-5C3C-0B9D-CA1E-1B82D40097F4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37D99E8-CC44-2807-6EF3-9C512764AD0A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DISPLIN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CEPAT BELAJAR TENTANG KEMAHIRAN BARU DAN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MEMPUNYAI FIZIKAL DAN KEKUATAN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BERPOTENSI UNTUK LEBIH MAJU DALAM PRESTASI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PERLU LEBIH BANYAK PENDEDAHAN UNTUK KEKALKAN KEKUATAN MENTAL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327" name="Picture 1">
            <a:extLst>
              <a:ext uri="{FF2B5EF4-FFF2-40B4-BE49-F238E27FC236}">
                <a16:creationId xmlns:a16="http://schemas.microsoft.com/office/drawing/2014/main" id="{EBB750C7-2CC1-2AFE-4E95-41FB92AD0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36525"/>
            <a:ext cx="1328738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95ACE-A626-2BEB-E9B8-7C919EE2DB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MUHAMMAD AIMAN HAKIM BIN SUHAIMI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110316-10-2271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30CC91-93CE-7588-F62E-A2C85E4A8967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ELANGOR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4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5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0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68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SEK.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MEN. KEB. JALAN REKO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WAN MOHD KHALMIZAN BIN WAN AB AZIZ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019-2378558 / 013-3868539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22D296A-E0BD-CC57-9C24-F2439BD8B8EA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KMK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Julai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SILVER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MSSM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Sept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SILVER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SAAC CHAMPIONSHIP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Sept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SILVER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KEJ. BAKAT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GOLD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0D225F-EC34-EC69-AFCF-06CBD0F08547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9B970DE-AA5C-CE9B-B061-F1582A2B6206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itchFamily="34" charset="-34"/>
                <a:cs typeface="Leelawadee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8ECD09-CBCA-45DB-A382-44F7F185D54C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itchFamily="34" charset="-34"/>
                <a:ea typeface="Adobe Heiti Std R" pitchFamily="34" charset="-128"/>
                <a:cs typeface="Leelawadee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itchFamily="34" charset="-34"/>
                <a:ea typeface="Adobe Heiti Std R" pitchFamily="34" charset="-128"/>
                <a:cs typeface="Leelawadee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itchFamily="34" charset="-34"/>
                <a:ea typeface="Adobe Heiti Std R" pitchFamily="34" charset="-128"/>
                <a:cs typeface="Leelawadee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E237566-6B45-BA68-11DA-8EB044D2B804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1. MEMPUNYAI KEMAHIRAN YANG BAIK TETAPI PERLU PANDUAN DARI JURULATIH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2. CEPAT BELAJAR KEMAHIRAN BARU TETAPI KURANG KEYAKINAN UNTUK MELAKUKAN SECARA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3. PERLU BANYAK LATIHAN UNTUK TINGKATKAN PRESTASI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4. MEMERLUKAN SEDIKIT MASA UNTUK LEBIH MATANG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351" name="Picture 1">
            <a:extLst>
              <a:ext uri="{FF2B5EF4-FFF2-40B4-BE49-F238E27FC236}">
                <a16:creationId xmlns:a16="http://schemas.microsoft.com/office/drawing/2014/main" id="{F999FC1B-36FA-2D58-36EC-E0003CF03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36525"/>
            <a:ext cx="1319212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B95877-A59B-51FD-2E3F-52BE601698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79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AHMAD MUJAHID BIN MUHAMAD FUAD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100413160095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0964C0-076B-2563-1086-DACB8FC70810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KEDAH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75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178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MEGAT DEWA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FAIRUZ BINTI SM RAHIM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010 - 8740915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64766A-BEE2-2456-FDC9-FB7F775ADF3C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41600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4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 2025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KE-29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SUKAN KEDAH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 2025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GANGSA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KEBANGSAAN SIRI 2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JULAI 2025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KE-4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KEBANGSAAN SIRI 1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JANUARI 2025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KE-31</a:t>
                      </a: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5" marB="4571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B1B0DA-DCB8-5E13-5FFB-E79EE194438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702D9EF-7974-8006-6928-53082594DC2E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356EF-9A7A-1C8E-6C27-A5EE6A32307B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7186B3D-33BB-B036-F8F7-B633C96D76B7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DISIPLIN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SEDERHANA KERANA KURANG PENDEDAHAN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BERPOTENSI UNTUK LEBIH MAJU DALAM PRESTASI SEKIRANYA LATIHAN YANG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LEBIH BANYAK PENDEDAHAN KEJOHANAN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MEMPUNYAI FIZIKAL DAN KEKUATAN OTOT YANG BAIK</a:t>
                      </a: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375" name="Picture 1">
            <a:extLst>
              <a:ext uri="{FF2B5EF4-FFF2-40B4-BE49-F238E27FC236}">
                <a16:creationId xmlns:a16="http://schemas.microsoft.com/office/drawing/2014/main" id="{7DBB755A-485B-4C66-9681-584DE30DD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17625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F5FDC0-A019-13EE-5753-6CF67FF107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384300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IRFAN DHANI BIN MOHD HAIRUL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090225-01-0181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93D7A9-31CF-C5B3-815E-0C9FEFE7FCB2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JOHOR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16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83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160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PASIR GUDANG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AZAM BASTIAN BIN ANUAR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013-7356373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A05C32-AE5A-DFE1-E132-57EBBE859724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4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KMK SIRI 3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OCT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N0 28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1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7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FF3A69-9588-9190-6291-84B67D7DDFB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318309E-0003-C322-E763-F6061B16AD4E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prstClr val="black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E60CDE-D778-A5FA-EB15-39840AA352E9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prstClr val="white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prstClr val="white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prstClr val="white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CAB434F-9B15-A74B-F197-72F4267CBE9A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FIZIKAL YANG BAIK UNTUK PEMANAH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2.. PERLU TINGKATKAN KEKUATAN OTOT DAN KAWALAN BOW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KEMAHIRAN YANG SEDERHANA TETAPI BOLEH BENTUK UNTUK LEBIH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LEBIH MATANG DAN BERANI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399" name="Picture 1">
            <a:extLst>
              <a:ext uri="{FF2B5EF4-FFF2-40B4-BE49-F238E27FC236}">
                <a16:creationId xmlns:a16="http://schemas.microsoft.com/office/drawing/2014/main" id="{25A5E068-72CA-9BC8-559B-22FCEE2C8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03337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B8341-DE45-7E1D-5CF9-5A46C94897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MUHAMMAD QAYYIM MUAZ BIN SHARUL NIZAM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110228-08-0527</a:t>
                      </a:r>
                      <a:endParaRPr kumimoji="0" lang="ms-MY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CD7024-1D8B-C3BC-03A2-CFFF5023F23D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14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 65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162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GUNUNG RAPAT IPOH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ESA BIN JAAFAR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0102567874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0E9514-6870-1723-B58C-6F4E45A1ECCE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800350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2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MSSPK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- 6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2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KEM BAKAT MEMANAH PLD SPTS PERAK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27-28 MEI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KARNIVAL SUKAN PERAK (SUPER) MEMANAH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11-13 JULAI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13-16 Nov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- 7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87F9B5-DBC0-8A7C-DF8A-FC9474FAA7EF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9F02C86-39C7-9962-532B-61DCAC67580D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5A5E85-A6F5-5986-CBD5-EB7BA01D04F9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2EA7AB-73CF-DC3D-CA2B-378F0E80DDDC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BERDISIPLIN DAN MUDAH MENDENGAR ARAHAN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KURANG PENDEDAHAN DARI SEGI KEMAHIRAN TINGGI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MEMPUNYAI FIZIKAL DAN KEKUATAN OTOT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TINGKATKAN CARA KAWALAN BOW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PERLU LEBIHKAN PENDEDAHAN KEJOHANAN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423" name="Picture 1">
            <a:extLst>
              <a:ext uri="{FF2B5EF4-FFF2-40B4-BE49-F238E27FC236}">
                <a16:creationId xmlns:a16="http://schemas.microsoft.com/office/drawing/2014/main" id="{2C58D1AD-0A1A-8177-7B0B-3637D53A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36525"/>
            <a:ext cx="13192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7FBED7-C286-617E-4812-4EEFF97761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SYEIKH NAZARUDEEN KASYFI BIN SHEIKH NASIR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100102-01-1375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D35F88-CEB7-4BF3-BE74-22B243D2E6E8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60496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WILAYAH PERSEKUTUAN PUTRAJAYA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54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177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PUTRAJAYA PRESINT 16(1)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LIEW TEK WA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016 - 7375470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F62381-514D-A9E1-406B-DF1358C9CC6B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33850"/>
          <a:ext cx="4537075" cy="2967038"/>
        </p:xfrm>
        <a:graphic>
          <a:graphicData uri="http://schemas.openxmlformats.org/drawingml/2006/table">
            <a:tbl>
              <a:tblPr/>
              <a:tblGrid>
                <a:gridCol w="202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1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BENTONG OPEN INTERNATIONAL ARCHERY CHAMPIONSHIP 2025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31 MEI 2025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(U15 &amp; OPEN)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GOLD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MY" sz="1000" dirty="0"/>
                        <a:t>SAAC ARCHERY CHAMPIONSHIP 2025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26 SEPT 2025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(U15 &amp; OPEN)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BRONZE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00" dirty="0"/>
                        <a:t>KEJOHANAN MEMANAH BAKAT OLIMPIK KEBANGSAAN SIRI 2 2025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13 NOV 2021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SILVER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i-FI" sz="1000" dirty="0"/>
                        <a:t>KEJOHANAN MEMANAH BAKAT OLIMPIK KEBANGSAN SIRI 1 2025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25 JUN 2025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BRONZE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000" dirty="0"/>
                        <a:t>HAFA ARCHERY OPEN WAR OF TEAMS 2025.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 SEPT 2025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(OPEN)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GOLD</a:t>
                      </a:r>
                    </a:p>
                  </a:txBody>
                  <a:tcPr marL="91452" marR="91452" marT="45711" marB="457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3992B8-A093-B8F4-5C9D-E7D4E6123855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579B4EC-5E54-4E22-4A74-30C17DE591DD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B230C-F300-E84E-BFDE-915AFD9A13F6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732ED6-4B47-C9DD-C967-01AEA09DE17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BERDISIPLIN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CEPAT BELAJAR KEMAHIRAN BARU DAN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MEMPUNYAI KARAKTER JUARA DAN MUDAH DIBENTUK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TINGKATKAN DARI SEGI KEKUATAN OTOT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BERFIKIRAN MATANG DAN BERPOTENSI UNTUK LEBIIH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447" name="Picture 1">
            <a:extLst>
              <a:ext uri="{FF2B5EF4-FFF2-40B4-BE49-F238E27FC236}">
                <a16:creationId xmlns:a16="http://schemas.microsoft.com/office/drawing/2014/main" id="{0B120554-42DA-E279-4920-C268E9775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03188"/>
            <a:ext cx="1295400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277F12-7E63-B472-EB04-27B8A865AB57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476375" y="136525"/>
          <a:ext cx="3167063" cy="1493838"/>
        </p:xfrm>
        <a:graphic>
          <a:graphicData uri="http://schemas.openxmlformats.org/drawingml/2006/table">
            <a:tbl>
              <a:tblPr/>
              <a:tblGrid>
                <a:gridCol w="106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MUHAMMAD ATHMAR ZUNNURAIN BIN MOHD RIZUWAN</a:t>
                      </a: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110117-14-0881</a:t>
                      </a: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7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06" marR="91406" marT="45734" marB="4573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955A46-C697-FBA1-226C-FF913A8B2256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KELANTAN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5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SEK.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MEN. KEB. BANDAR TASIK SELATAN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MOHD RIZUWAN BIN TOHARUDDIN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7-2761186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FB7664-AB09-63C9-BEE4-8354DBD495A3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732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67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 Memanah Kebangsaan Bawah 12 dan 15 Tahun 2025 Siri 1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17-19 JANUARI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KE-12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 Memanah MSSD Kuala Lumpur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16 - 20 JUN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EMAS,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PERAK,            1 GANGSA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7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MSSWP Kuala Lumpur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18-21 OGOS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 EMAS,             2 PERAK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KARNIVAL BAKAT OLIMPIK KEBANGSAAN SIRI 1/2025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16-20 JULAI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3176EF-DD87-7DB4-892C-25215698BD6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8989434-1D88-0AC8-6EA2-484E9E9B289B}"/>
              </a:ext>
            </a:extLst>
          </p:cNvPr>
          <p:cNvSpPr/>
          <p:nvPr/>
        </p:nvSpPr>
        <p:spPr>
          <a:xfrm>
            <a:off x="112713" y="15557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0FA6C-A46A-6C60-167C-1F98B588C8E4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DA63A31-1321-72C0-27C6-01FC7B1BA754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47963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279" marB="462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BERDISIPLIN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MEMPUNYAI INISIATIF DIRI UNTUK TERUS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KEMAHIRAN YANG BAIK TETAPI PERLU LEBIH BERANI UNTUK LEBIH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FIZIKAL YANG BAIK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PERALATAN PERLU SESUAI DENGAN DIRI DAN PENYELENGGARAAN PERALATAN PERLU LEBIH KERAP DILAKUKAN</a:t>
                      </a:r>
                    </a:p>
                  </a:txBody>
                  <a:tcPr marL="91455" marR="91455" marT="46279" marB="4627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466" name="Picture 1">
            <a:extLst>
              <a:ext uri="{FF2B5EF4-FFF2-40B4-BE49-F238E27FC236}">
                <a16:creationId xmlns:a16="http://schemas.microsoft.com/office/drawing/2014/main" id="{48C90B84-0E13-0480-F985-5F731EDA2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60338"/>
            <a:ext cx="1331912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C66300-9A49-9EE4-0FA4-91D901185F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THURGESSHWARAN A/L GANESAN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100924-14-0627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76BF90-2B4D-DC8E-9CA3-213C77ACA6D3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KUALA LUMPUR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87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17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VICTORIA INSTITUTION, K. LUMPUR</a:t>
                      </a:r>
                      <a:endParaRPr kumimoji="0" lang="en-US" alt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MOHD RIZUWAN TOHARUDDIN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-2971470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5A1688-E2CA-84CB-4951-E40385B82F96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727325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77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1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KARNIVAL BAKAT OLIMPIK SIRI 1/2025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Julai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  <a:endParaRPr kumimoji="0" lang="en-US" alt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SELANGOR INTERNATIONAL INDOOR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November 2025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R10AC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Oktober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JEJAKJUARA KL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November 2025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2" marB="4570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8FEC62-6763-BC2A-4D1C-41523410D8C2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F61A579-4F46-E9A2-366C-0FF959F979E5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F85402-E959-C918-8B0D-41F82B4545FF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03DD3AF-38C0-FA79-2F1E-8BB3D2E13C65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6542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5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011" marB="4601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DISIPLIN YANG BAIK DAN MENGIKUT ARAHAN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PERLU LEBIH BERANI DAN YAKIN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ADA INISIATIF UNTUK MAJUKAN DIRI DALAM PRESTASI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MUDAH FAHAM DENGAN KEMAHIRAN BARU TETAPI PERLU MASA UNTUK MELAKUKANNYA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MEMPUNYAI FIZIKAL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6. PEMILIHAN PERALATAN YANG BAIK DAN BERSESUAIAN</a:t>
                      </a:r>
                    </a:p>
                  </a:txBody>
                  <a:tcPr marL="91455" marR="91455" marT="46011" marB="460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495" name="Picture 1">
            <a:extLst>
              <a:ext uri="{FF2B5EF4-FFF2-40B4-BE49-F238E27FC236}">
                <a16:creationId xmlns:a16="http://schemas.microsoft.com/office/drawing/2014/main" id="{D338E94E-9A1E-432B-F79C-222A8CF95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06363"/>
            <a:ext cx="131762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D65496-4FFC-8F8F-33D3-BA7D3AAB56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EMMI HUMAIRA BINTI YURAIMY YAKIMIN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100822-08-0408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C20676-D74F-B932-0B6A-AE7B184D3A6C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SELANGOR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60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162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BANDAR TASIK KESUMA, SELANGOR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SHAHIDALLAH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01245112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C69D09-54E2-ED34-5BA2-0F6794B4D493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47950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2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BAKAT OLIMPIK KEBANGSAAN 2/25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13-16 Nov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 (Individu)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 (Pasukan)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2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BAKAT OLIMPIK KEBANGSAAN 1/25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25 – 29 Jun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KMK U12 U15 Siri 3/25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– 5 Julai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SILVER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KMK U12 U25 Siri 2/25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 – 8 Feb 2025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8" marB="4569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86299B-73B4-1DDE-2F12-B5A95C22695E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6A4220D-BB37-075F-A207-19B92DB62CD9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6D86C8-4DD6-1BCD-0265-69AD02B1CB32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B8617B2-5734-933F-5862-76D3EA1F07F6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55900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266" marB="4626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BERDISIPLIN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FIZIKAL DAN KAKUATAN OTOT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KEMAHIRAN YANG BAIK DAN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CEPAT BELAJAR KEMAHIRAN BARU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PERLU JAGA KONDISI BADAN UNTUK ELAK KECEDERAAN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6. PERLU LEBIH MATANG DALAM MEMBUAT KEPUTUSAN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266" marB="4626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519" name="Picture 1">
            <a:extLst>
              <a:ext uri="{FF2B5EF4-FFF2-40B4-BE49-F238E27FC236}">
                <a16:creationId xmlns:a16="http://schemas.microsoft.com/office/drawing/2014/main" id="{352CA1E8-C547-B093-4833-6B0D8F02D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36525"/>
            <a:ext cx="1336675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1241A6-8084-4DE0-4518-A1388C177B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20491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ILMI IZZAH BINTI RAZIF</a:t>
                      </a: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0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101105-10-0490</a:t>
                      </a: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76" marB="4577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448059-1A61-F2AD-2594-C4380B94C9D9}"/>
              </a:ext>
            </a:extLst>
          </p:cNvPr>
          <p:cNvGraphicFramePr>
            <a:graphicFrameLocks noGrp="1"/>
          </p:cNvGraphicFramePr>
          <p:nvPr/>
        </p:nvGraphicFramePr>
        <p:xfrm>
          <a:off x="112713" y="1412875"/>
          <a:ext cx="4530725" cy="2184400"/>
        </p:xfrm>
        <a:graphic>
          <a:graphicData uri="http://schemas.openxmlformats.org/drawingml/2006/table">
            <a:tbl>
              <a:tblPr/>
              <a:tblGrid>
                <a:gridCol w="1753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8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SELANGOR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70 KG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157 CM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SAM BANDAR BARU SALAK TINGGI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SHAHIDALLAH JAHAYA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019-3541221</a:t>
                      </a:r>
                    </a:p>
                  </a:txBody>
                  <a:tcPr marL="91451" marR="91451" marT="45750" marB="457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658451-03BD-85C8-CA07-74B30C50157B}"/>
              </a:ext>
            </a:extLst>
          </p:cNvPr>
          <p:cNvGraphicFramePr>
            <a:graphicFrameLocks noGrp="1"/>
          </p:cNvGraphicFramePr>
          <p:nvPr/>
        </p:nvGraphicFramePr>
        <p:xfrm>
          <a:off x="73025" y="3644900"/>
          <a:ext cx="4643438" cy="3168650"/>
        </p:xfrm>
        <a:graphic>
          <a:graphicData uri="http://schemas.openxmlformats.org/drawingml/2006/table">
            <a:tbl>
              <a:tblPr/>
              <a:tblGrid>
                <a:gridCol w="110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2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OR – INDIVIDU </a:t>
                      </a:r>
                      <a:r>
                        <a:rPr kumimoji="0" lang="ms-MY" sz="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(RECURVE)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QR TEAM (RECURVE)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BOK SIRI 2, KAMPAR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QR – INDIVIDU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(RECURVE)</a:t>
                      </a:r>
                      <a:endParaRPr kumimoji="0" lang="ms-MY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OR TEAM (RECURVE)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</a:t>
                      </a:r>
                      <a:r>
                        <a:rPr kumimoji="0" lang="ms-MY" sz="9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TH  </a:t>
                      </a: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PLACE (</a:t>
                      </a: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630pts)</a:t>
                      </a:r>
                      <a:endParaRPr kumimoji="0" lang="ms-MY" sz="800" b="0" i="0" u="none" strike="noStrike" cap="none" normalizeH="0" baseline="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900" b="0" i="0" u="none" strike="noStrike" cap="none" normalizeH="0" baseline="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 BOK SIRI,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TUMPAT 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JUN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QR – INDIVIDU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(RECURVE)</a:t>
                      </a:r>
                      <a:endParaRPr kumimoji="0" lang="ms-MY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Q</a:t>
                      </a:r>
                      <a:r>
                        <a:rPr kumimoji="0" lang="ms-MY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 </a:t>
                      </a: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TEAM (RECURVE)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</a:t>
                      </a:r>
                      <a:r>
                        <a:rPr kumimoji="0" lang="ms-MY" sz="9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TH  </a:t>
                      </a: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PLACE (30 M = </a:t>
                      </a: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348pts)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REKOD KEBANGSAAN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 :</a:t>
                      </a: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REKOD KEBANGSAAN</a:t>
                      </a:r>
                      <a:endParaRPr kumimoji="0" lang="ms-MY" sz="800" b="0" i="0" u="none" strike="noStrike" cap="none" normalizeH="0" baseline="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KEB.  BAWAH 12 &amp; 15 SIRI 2, LUMUT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FEB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QR INDIVIDU (RECURVE)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KEB.  BAWAH 12 &amp; 15 SIRI 1, KL.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JAN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QR INDIVIDU (RECURVE)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GOLD</a:t>
                      </a:r>
                    </a:p>
                  </a:txBody>
                  <a:tcPr marL="91452" marR="91452" marT="45721" marB="45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119F2C-9D8E-A139-36A8-45E2CAEEF11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A3050B5-28F1-CDD2-6C14-B1CF34E91BA9}"/>
              </a:ext>
            </a:extLst>
          </p:cNvPr>
          <p:cNvSpPr/>
          <p:nvPr/>
        </p:nvSpPr>
        <p:spPr>
          <a:xfrm>
            <a:off x="112713" y="90488"/>
            <a:ext cx="1290637" cy="1293812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554F4-96C2-7AED-5E21-7DDEB507DE47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295374B-3EE8-9683-B160-1916C061F953}"/>
              </a:ext>
            </a:extLst>
          </p:cNvPr>
          <p:cNvGraphicFramePr>
            <a:graphicFrameLocks noGrp="1"/>
          </p:cNvGraphicFramePr>
          <p:nvPr/>
        </p:nvGraphicFramePr>
        <p:xfrm>
          <a:off x="4787900" y="416242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SIKAP DAN DISIPLIN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SEDERHANA DAN MUDAH DI BENTUK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PERLU LEBIH BANYAK PENDEDAHAN TERHADAP KEMAHIRAN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TINGKATKAN KEKUATAN OTOT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567" name="Picture 1">
            <a:extLst>
              <a:ext uri="{FF2B5EF4-FFF2-40B4-BE49-F238E27FC236}">
                <a16:creationId xmlns:a16="http://schemas.microsoft.com/office/drawing/2014/main" id="{E9FA4C55-9313-B97A-9C2E-AF541F7AC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90488"/>
            <a:ext cx="1317625" cy="12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Group 2">
            <a:extLst>
              <a:ext uri="{FF2B5EF4-FFF2-40B4-BE49-F238E27FC236}">
                <a16:creationId xmlns:a16="http://schemas.microsoft.com/office/drawing/2014/main" id="{DB96F35C-992F-AB34-01C4-76E6364750EE}"/>
              </a:ext>
            </a:extLst>
          </p:cNvPr>
          <p:cNvGraphicFramePr>
            <a:graphicFrameLocks noGrp="1"/>
          </p:cNvGraphicFramePr>
          <p:nvPr/>
        </p:nvGraphicFramePr>
        <p:xfrm>
          <a:off x="1476375" y="136525"/>
          <a:ext cx="3165475" cy="1374775"/>
        </p:xfrm>
        <a:graphic>
          <a:graphicData uri="http://schemas.openxmlformats.org/drawingml/2006/table">
            <a:tbl>
              <a:tblPr/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113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NAMA ATLET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AMIRAH BINTI AMIRULLAH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NO K/P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101024-10-0536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SUKAN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ACARA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4" marR="91414" marT="45745" marB="45745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81" name="Group 33">
            <a:extLst>
              <a:ext uri="{FF2B5EF4-FFF2-40B4-BE49-F238E27FC236}">
                <a16:creationId xmlns:a16="http://schemas.microsoft.com/office/drawing/2014/main" id="{7883FC59-2155-71A6-DECB-2581523C4F03}"/>
              </a:ext>
            </a:extLst>
          </p:cNvPr>
          <p:cNvGraphicFramePr>
            <a:graphicFrameLocks noGrp="1"/>
          </p:cNvGraphicFramePr>
          <p:nvPr/>
        </p:nvGraphicFramePr>
        <p:xfrm>
          <a:off x="107950" y="1573213"/>
          <a:ext cx="4533900" cy="2630487"/>
        </p:xfrm>
        <a:graphic>
          <a:graphicData uri="http://schemas.openxmlformats.org/drawingml/2006/table">
            <a:tbl>
              <a:tblPr/>
              <a:tblGrid>
                <a:gridCol w="175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0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916">
                <a:tc gridSpan="2"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DATA ATLET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51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SELANGOR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6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82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78 KG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79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163 CM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271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BANDAR BARU SALAK TINGGI 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829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COACH WAN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COACH ADI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COACH AYUNI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383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019 2982428</a:t>
                      </a:r>
                    </a:p>
                  </a:txBody>
                  <a:tcPr marT="45746" marB="45746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137" name="Group 89">
            <a:extLst>
              <a:ext uri="{FF2B5EF4-FFF2-40B4-BE49-F238E27FC236}">
                <a16:creationId xmlns:a16="http://schemas.microsoft.com/office/drawing/2014/main" id="{ABAC890E-1713-AD30-22D2-CCC37416CF29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5487" cy="3268663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801">
                <a:tc gridSpan="4"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PENCAPAIAN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089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6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PERAK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GANGSA 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6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SELANGOR INTERNATIONAL INDOOR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EMAS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0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SUKSES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OCT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EMAS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GANGSA 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36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 MEMANAH KEBANGSAAN SIRI 1/2025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JAN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1PERAK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36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 MEMANAH BAKAT OLIMPIK KEBANGSAAN SIRI 1/2025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JUN 2025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EMAS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PERAK 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24" name="Group 176">
            <a:extLst>
              <a:ext uri="{FF2B5EF4-FFF2-40B4-BE49-F238E27FC236}">
                <a16:creationId xmlns:a16="http://schemas.microsoft.com/office/drawing/2014/main" id="{34B3C113-7E04-471E-9910-4F4AC3170A5D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6388"/>
          <a:ext cx="4319587" cy="2455862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 gridSpan="4"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UJIAN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E1C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32" marB="4573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05" name="Rectangle 263">
            <a:extLst>
              <a:ext uri="{FF2B5EF4-FFF2-40B4-BE49-F238E27FC236}">
                <a16:creationId xmlns:a16="http://schemas.microsoft.com/office/drawing/2014/main" id="{41548895-BE46-0959-855D-5E065C3EA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>
            <a:solidFill>
              <a:srgbClr val="385D8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200" i="1"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20606" name="Rectangle 264">
            <a:extLst>
              <a:ext uri="{FF2B5EF4-FFF2-40B4-BE49-F238E27FC236}">
                <a16:creationId xmlns:a16="http://schemas.microsoft.com/office/drawing/2014/main" id="{5FEA3CC1-89AB-C4AF-F885-9AAB14A0F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36525"/>
            <a:ext cx="4319587" cy="1381125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</a:rPr>
              <a:t>PROFIL ATLET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</a:rPr>
              <a:t>PROGRAM PEMBANGUNAN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</a:rPr>
              <a:t>SUKAN OLIMPIK</a:t>
            </a:r>
          </a:p>
        </p:txBody>
      </p:sp>
      <p:graphicFrame>
        <p:nvGraphicFramePr>
          <p:cNvPr id="2313" name="Group 265">
            <a:extLst>
              <a:ext uri="{FF2B5EF4-FFF2-40B4-BE49-F238E27FC236}">
                <a16:creationId xmlns:a16="http://schemas.microsoft.com/office/drawing/2014/main" id="{6F75A328-D8BC-D020-99E0-66B9558C9FA5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19587" cy="2770188"/>
        </p:xfrm>
        <a:graphic>
          <a:graphicData uri="http://schemas.openxmlformats.org/drawingml/2006/table">
            <a:tbl>
              <a:tblPr/>
              <a:tblGrid>
                <a:gridCol w="4319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7235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Arial" panose="020B0604020202020204" pitchFamily="34" charset="0"/>
                        </a:rPr>
                        <a:t>ULASAN PRESTASI KESELURUHAN</a:t>
                      </a:r>
                    </a:p>
                  </a:txBody>
                  <a:tcPr marL="91452" marR="91452" marT="46130" marB="4613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953">
                <a:tc>
                  <a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eaLnBrk="0" hangingPunct="0"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DISIPLIN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BAIK DAN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MEMPUNYAI FIZIKAL YANG BAIK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MEMERLUKAN PENDEDAHAN YANG LEBIH UNTUK TERUS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PENYESUAIAN PERALATAN YANG BAIK DAN KAWALAN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6130" marB="4613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615" name="Picture 1">
            <a:extLst>
              <a:ext uri="{FF2B5EF4-FFF2-40B4-BE49-F238E27FC236}">
                <a16:creationId xmlns:a16="http://schemas.microsoft.com/office/drawing/2014/main" id="{44384FCF-B836-078C-6642-D8CB71142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0333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899725-1FCF-66DE-209E-3C3C2AC468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384300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NUR AYRA MAHIRAH BINTI ROSIHAN ANWAR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100618-02-0678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77B5CE-7084-F412-DF43-99B76F1A4C25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JOHOR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47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153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TELOK KERANG, PONTIAN, JOHOR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AZAM BASTIAN BIN ANUAR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012-5771245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465F09-6D9A-C565-D887-A223BCC4D04F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1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4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1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489379-2400-9913-0B87-FD7B27B2D8D7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6EBC01B-8FC2-B3E1-395E-87E2FEBAF1FA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prstClr val="black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0C847C-B215-9561-A174-3EA0B1BEFA67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prstClr val="white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prstClr val="white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prstClr val="white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F35702-7A4D-46D2-A68D-55E0DDEF4DBD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MEMPUNYAI DISIPLIN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SEDERHANA TETAPI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MUDAH DIBENTUK DARI SEGI KEMAHIRAN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LATIHAN KONSISTEN DAN PENDEDAHAN YANG LEBIH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PERLU TINGKATKAN KEKUATAN OTOT UNTUK KAWALAN BOW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639" name="Picture 1">
            <a:extLst>
              <a:ext uri="{FF2B5EF4-FFF2-40B4-BE49-F238E27FC236}">
                <a16:creationId xmlns:a16="http://schemas.microsoft.com/office/drawing/2014/main" id="{982BFF9E-667B-81E5-CA31-FD7BC8EAD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03337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379AE1-17E9-4B08-5EE5-7CB4C12302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AE</a:t>
                      </a: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LDRACHETTA EONATTA ANDYWELSH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</a:t>
                      </a: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10818-12-1050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FFD9D8-E1B4-ED37-0D36-55051DA1F93D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SABAH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4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42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56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MK. KOTA MARUDU, SABAH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01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121293353/ 0198419256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7E7961-3409-69F4-E3AE-83F729489E4F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70986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44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MSSM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SEPTEMBER 2025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MIXTEAM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EMAS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5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KEJ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. BAKAT OLIMPIK 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NOV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2025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PERAK -  MIXTEAM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GANGSA - BERPASUKAN WANITA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SUKAN SABAH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OKT 2025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EMAS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 QR DAN ER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KEJ. BAKAT OLIMPIK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Nov 2025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KELIMA QR</a:t>
                      </a: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2" marR="91452" marT="45724" marB="4572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825E64-7B43-F683-38C1-58FAB8283367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1D04A1B-491C-1F31-0FE3-C70F56C1F35A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itchFamily="34" charset="-34"/>
                <a:cs typeface="Leelawadee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783E03-C0C4-580E-9A79-7E90AE1DDC34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itchFamily="34" charset="-34"/>
                <a:ea typeface="Adobe Heiti Std R" pitchFamily="34" charset="-128"/>
                <a:cs typeface="Leelawadee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itchFamily="34" charset="-34"/>
                <a:ea typeface="Adobe Heiti Std R" pitchFamily="34" charset="-128"/>
                <a:cs typeface="Leelawadee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itchFamily="34" charset="-34"/>
                <a:ea typeface="Adobe Heiti Std R" pitchFamily="34" charset="-128"/>
                <a:cs typeface="Leelawadee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955CB63-4393-313D-F45A-A15E60A859CB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41613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itchFamily="34" charset="-34"/>
                          <a:ea typeface="Adobe Heiti Std R" pitchFamily="34" charset="-128"/>
                          <a:cs typeface="Leelawadee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itchFamily="34" charset="-34"/>
                        <a:ea typeface="Adobe Heiti Std R" pitchFamily="34" charset="-128"/>
                        <a:cs typeface="Leelawadee" pitchFamily="34" charset="-34"/>
                      </a:endParaRPr>
                    </a:p>
                  </a:txBody>
                  <a:tcPr marL="91455" marR="91455" marT="45879" marB="458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7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1. BERDISIPLIN DAN MENGIKUT ARAHAN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2. KEMAHIRAN YANG BAIK DAN BOLEH UNTUK LEBIH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3. BERPOTENSI UNTUK LEBIH MAJU SEKIRANYA LATIHAN DAN PENDEDAHAN YANG KONSISTEN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itchFamily="34" charset="-34"/>
                          <a:cs typeface="Leelawadee" pitchFamily="34" charset="-34"/>
                        </a:rPr>
                        <a:t>4. MEMPUNYAI INISIATIF DIRI UNTUK TERUS MAJU DALAM PRESTASI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itchFamily="34" charset="-34"/>
                        <a:cs typeface="Leelawadee" pitchFamily="34" charset="-34"/>
                      </a:endParaRPr>
                    </a:p>
                  </a:txBody>
                  <a:tcPr marL="91455" marR="91455" marT="45879" marB="4587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663" name="Picture 1">
            <a:extLst>
              <a:ext uri="{FF2B5EF4-FFF2-40B4-BE49-F238E27FC236}">
                <a16:creationId xmlns:a16="http://schemas.microsoft.com/office/drawing/2014/main" id="{591E4212-D3E1-36C1-6620-B5F956DB8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31912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B13733-A838-B2D5-930E-7BFF5B10F8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3890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2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</a:t>
                      </a: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HIRITIGAA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A/P MAHADEVAN</a:t>
                      </a:r>
                      <a:endParaRPr kumimoji="0" lang="ms-MY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090127-07-0228</a:t>
                      </a:r>
                      <a:endParaRPr kumimoji="0" lang="ms-MY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4721" marB="4472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465002-37C1-77FE-B317-FDECC07FC821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PULAU PINANG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 TAHUN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75 KG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65 CM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SMK(P) ST. GEORGE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COACH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SHAMANI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GANESAN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016 - 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4705160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CF7480-766C-1134-A1D3-12602EE320A4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90800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1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KUALA LUMPUR </a:t>
                      </a: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CIRCIUT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SERIES 1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FEBRUARY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2035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KARTINI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INTERNATIONAL ARCHERY TOURNAMENT 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APRIL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2025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 PERAK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</a:t>
                      </a:r>
                      <a:r>
                        <a:rPr kumimoji="0" lang="en-US" sz="1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th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WOMEN ARCHERY CHAMPIONSHIP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JULAI 2025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JOHOR INTERNATIONAL ARCHERY TOURNAMENT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SEPTEMBER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2025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2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08" marB="4570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B53E5E-A81F-A4D1-611F-13DBA6A716DC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2543EA9-C4A1-55BB-E347-9F9367A34D91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60E353-E8E8-C84E-9A56-4837E5DA4617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0662B98-ACCD-C7A7-ABB4-B22670EBF937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19587" cy="2741613"/>
        </p:xfrm>
        <a:graphic>
          <a:graphicData uri="http://schemas.openxmlformats.org/drawingml/2006/table">
            <a:tbl>
              <a:tblPr/>
              <a:tblGrid>
                <a:gridCol w="4319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9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348" marB="4634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MEMPUNYAI SIKAP YANG BAIK DAN MUDAH MENGIKUT ARAHAN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BAIK DAN MUDAH DIBENTUK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PERLU PEMAHAMAN KEMAHIRAN YANG LEBIH UNTUK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MEMPUNYAI FIZIKAL DAN KEKUATAN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MEMPUNYAI KARAKTER UNTUK MENJADI JUARA DAN SENTIASA POSITIF</a:t>
                      </a:r>
                    </a:p>
                  </a:txBody>
                  <a:tcPr marL="91455" marR="91455" marT="46348" marB="463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682" name="Picture 1">
            <a:extLst>
              <a:ext uri="{FF2B5EF4-FFF2-40B4-BE49-F238E27FC236}">
                <a16:creationId xmlns:a16="http://schemas.microsoft.com/office/drawing/2014/main" id="{84B1B94E-293D-68B6-5CAF-FEF4D5F48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36525"/>
            <a:ext cx="13081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4194303">
            <a:extLst>
              <a:ext uri="{FF2B5EF4-FFF2-40B4-BE49-F238E27FC236}">
                <a16:creationId xmlns:a16="http://schemas.microsoft.com/office/drawing/2014/main" id="{0206D2B5-24AC-BA6D-48BD-8408ED4DAE66}"/>
              </a:ext>
            </a:extLst>
          </p:cNvPr>
          <p:cNvGraphicFramePr>
            <a:graphicFrameLocks/>
          </p:cNvGraphicFramePr>
          <p:nvPr/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860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0">
                          <a:solidFill>
                            <a:schemeClr val="lt1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NAMA ATLET</a:t>
                      </a:r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1" dirty="0">
                          <a:solidFill>
                            <a:schemeClr val="dk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N</a:t>
                      </a:r>
                      <a:r>
                        <a:rPr lang="en-US" altLang="en-MY" sz="1100" b="1" dirty="0">
                          <a:solidFill>
                            <a:schemeClr val="dk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UR QAIREEN UMAIRAH BINTI NORAZLZAL </a:t>
                      </a:r>
                      <a:endParaRPr lang="zh-CN" altLang="en-US" sz="1800" dirty="0"/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98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0">
                          <a:solidFill>
                            <a:schemeClr val="lt1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NO K/P</a:t>
                      </a:r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1">
                          <a:solidFill>
                            <a:schemeClr val="dk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10</a:t>
                      </a:r>
                      <a:r>
                        <a:rPr lang="en-US" altLang="en-MY" sz="1100" b="1">
                          <a:solidFill>
                            <a:schemeClr val="dk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0102-02-0394</a:t>
                      </a:r>
                      <a:endParaRPr lang="zh-CN" altLang="en-US" sz="1800"/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25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0">
                          <a:solidFill>
                            <a:schemeClr val="lt1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SUKAN</a:t>
                      </a:r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1">
                          <a:solidFill>
                            <a:schemeClr val="dk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MEMANAH</a:t>
                      </a:r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80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0">
                          <a:solidFill>
                            <a:schemeClr val="lt1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ACARA</a:t>
                      </a:r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100" b="1" dirty="0">
                          <a:solidFill>
                            <a:schemeClr val="dk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RECURVE</a:t>
                      </a:r>
                    </a:p>
                  </a:txBody>
                  <a:tcPr marL="91415" marR="91415" marT="45759" marB="45759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194305" name="Table 4194304">
            <a:extLst>
              <a:ext uri="{FF2B5EF4-FFF2-40B4-BE49-F238E27FC236}">
                <a16:creationId xmlns:a16="http://schemas.microsoft.com/office/drawing/2014/main" id="{1E0D1DEC-3827-466B-BA4E-41AE378A9E81}"/>
              </a:ext>
            </a:extLst>
          </p:cNvPr>
          <p:cNvGraphicFramePr>
            <a:graphicFrameLocks/>
          </p:cNvGraphicFramePr>
          <p:nvPr/>
        </p:nvGraphicFramePr>
        <p:xfrm>
          <a:off x="106363" y="1573213"/>
          <a:ext cx="4721225" cy="2571750"/>
        </p:xfrm>
        <a:graphic>
          <a:graphicData uri="http://schemas.openxmlformats.org/drawingml/2006/table">
            <a:tbl>
              <a:tblPr/>
              <a:tblGrid>
                <a:gridCol w="182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43">
                <a:tc gridSpan="2"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400" b="1">
                          <a:solidFill>
                            <a:srgbClr val="FFFFFF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DATA ATLET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650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NEGERI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P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ERLIS</a:t>
                      </a:r>
                      <a:endParaRPr lang="zh-CN" altLang="en-US" sz="1800"/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615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UMUR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15 TAHUN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57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BERAT BADAN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 </a:t>
                      </a:r>
                      <a:r>
                        <a:rPr lang="en-US" altLang="en-MY" sz="10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87 </a:t>
                      </a:r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KG</a:t>
                      </a:r>
                      <a:endParaRPr lang="zh-CN" altLang="en-US" sz="1800" dirty="0"/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61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TINGGI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 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165</a:t>
                      </a: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 CM</a:t>
                      </a:r>
                      <a:endParaRPr lang="zh-CN" altLang="en-US" sz="1800"/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222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SEKOLAH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S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MK. DERMA KANGAR, PERLUS</a:t>
                      </a:r>
                      <a:endParaRPr lang="zh-CN" altLang="en-US" sz="1800"/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705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JURULATIH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N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ORAZLIZAL BIN NOR RAWI </a:t>
                      </a:r>
                      <a:endParaRPr lang="zh-CN" altLang="en-US" sz="1800"/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497"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NO PERHUBUNGAN IBUBAPA/ PENJAGA</a:t>
                      </a:r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eaLnBrk="1" hangingPunct="1"/>
                      <a:r>
                        <a:rPr lang="en-US" altLang="en-US" sz="10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01</a:t>
                      </a:r>
                      <a:r>
                        <a:rPr lang="en-US" altLang="en-MY" sz="10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1-11968235 / 0164228235</a:t>
                      </a:r>
                      <a:endParaRPr lang="zh-CN" altLang="en-US" sz="1800" dirty="0"/>
                    </a:p>
                  </a:txBody>
                  <a:tcPr marL="91464" marR="91464" marT="45745" marB="45745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194306" name="Table 4194305">
            <a:extLst>
              <a:ext uri="{FF2B5EF4-FFF2-40B4-BE49-F238E27FC236}">
                <a16:creationId xmlns:a16="http://schemas.microsoft.com/office/drawing/2014/main" id="{41FA7B4A-E44E-7795-1376-66A2D4BB7D8A}"/>
              </a:ext>
            </a:extLst>
          </p:cNvPr>
          <p:cNvGraphicFramePr>
            <a:graphicFrameLocks/>
          </p:cNvGraphicFramePr>
          <p:nvPr/>
        </p:nvGraphicFramePr>
        <p:xfrm>
          <a:off x="103188" y="4108450"/>
          <a:ext cx="4537075" cy="2795588"/>
        </p:xfrm>
        <a:graphic>
          <a:graphicData uri="http://schemas.openxmlformats.org/drawingml/2006/table">
            <a:tbl>
              <a:tblPr/>
              <a:tblGrid>
                <a:gridCol w="158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414">
                <a:tc gridSpan="4"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400" b="1">
                          <a:solidFill>
                            <a:srgbClr val="FFFFFF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PENCAPAIAN 2025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04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KEJOHANAN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TARIKH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ACARA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CATATAN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2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MSSM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September 2025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Leelawadee" pitchFamily="34" charset="-34"/>
                        <a:ea typeface="Leelawadee" pitchFamily="34" charset="-34"/>
                      </a:endParaRP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E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MAS BERPASUKAN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99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KEJ. 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SELANGOR JUNIORS 3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Ogos</a:t>
                      </a: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 2025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2 </a:t>
                      </a: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EMAS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01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K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EJ SIRKIT KEBANGSAAN BAWAH 15 TAHUN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Julai 2025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Leelawadee" pitchFamily="34" charset="-34"/>
                        <a:ea typeface="Leelawadee" pitchFamily="34" charset="-34"/>
                      </a:endParaRP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EMAS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406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KEJ. BAKAT SIRI 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2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Nov 2025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RECURVE</a:t>
                      </a: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G</a:t>
                      </a:r>
                      <a:r>
                        <a:rPr lang="en-US" altLang="en-MY" sz="1000" b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ANGSA</a:t>
                      </a:r>
                      <a:endParaRPr lang="zh-CN" altLang="en-US" sz="1800"/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2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KEJ. MEMANAH TERBUKA R10AC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Leelawadee" pitchFamily="34" charset="-34"/>
                        <a:ea typeface="Leelawadee" pitchFamily="34" charset="-34"/>
                      </a:endParaRP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Jan.2025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Leelawadee" pitchFamily="34" charset="-34"/>
                        <a:ea typeface="Leelawadee" pitchFamily="34" charset="-34"/>
                      </a:endParaRP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RECURVE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Leelawadee" pitchFamily="34" charset="-34"/>
                        <a:ea typeface="Leelawadee" pitchFamily="34" charset="-34"/>
                      </a:endParaRP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MY" sz="100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5 EMAS</a:t>
                      </a:r>
                      <a:endParaRPr lang="en-US" altLang="en-US" sz="1000">
                        <a:solidFill>
                          <a:srgbClr val="000000"/>
                        </a:solidFill>
                        <a:latin typeface="Leelawadee" pitchFamily="34" charset="-34"/>
                        <a:ea typeface="Leelawadee" pitchFamily="34" charset="-34"/>
                      </a:endParaRPr>
                    </a:p>
                  </a:txBody>
                  <a:tcPr marL="91452" marR="91452" marT="45723" marB="45723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194307" name="Table 4194306">
            <a:extLst>
              <a:ext uri="{FF2B5EF4-FFF2-40B4-BE49-F238E27FC236}">
                <a16:creationId xmlns:a16="http://schemas.microsoft.com/office/drawing/2014/main" id="{E4EF7849-BF4D-0985-6585-EE1961D82957}"/>
              </a:ext>
            </a:extLst>
          </p:cNvPr>
          <p:cNvGraphicFramePr>
            <a:graphicFrameLocks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2262">
                <a:tc gridSpan="4"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400" b="1">
                          <a:solidFill>
                            <a:schemeClr val="lt1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UJIAN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</a:rPr>
                        <a:t>NO.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ms-MY" altLang="en-US" sz="1000" b="1">
                          <a:solidFill>
                            <a:schemeClr val="lt1"/>
                          </a:solidFill>
                        </a:rPr>
                        <a:t>JENIS UJIAN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</a:rPr>
                        <a:t>KEPUTUSAN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1">
                          <a:solidFill>
                            <a:schemeClr val="lt1"/>
                          </a:solidFill>
                        </a:rPr>
                        <a:t>STATUS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1E1C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2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Arial Narrow" pitchFamily="34" charset="0"/>
                        </a:rPr>
                        <a:t>1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Arial Narrow" pitchFamily="34" charset="0"/>
                        </a:rPr>
                        <a:t>2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7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Arial Narrow" pitchFamily="34" charset="0"/>
                        </a:rPr>
                        <a:t>3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Arial Narrow" pitchFamily="34" charset="0"/>
                        </a:rPr>
                        <a:t>4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Arial Narrow" pitchFamily="34" charset="0"/>
                        </a:rPr>
                        <a:t>5</a:t>
                      </a: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/>
                      <a:endParaRPr lang="en-US" altLang="en-US" sz="100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L="91455" marR="91455" marT="45738" marB="457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701" name="Rectangle 9">
            <a:extLst>
              <a:ext uri="{FF2B5EF4-FFF2-40B4-BE49-F238E27FC236}">
                <a16:creationId xmlns:a16="http://schemas.microsoft.com/office/drawing/2014/main" id="{ACB03553-D244-DDEE-1DD7-EB69D3A59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>
            <a:solidFill>
              <a:srgbClr val="385D8A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i="1">
                <a:solidFill>
                  <a:srgbClr val="000000"/>
                </a:solidFill>
                <a:latin typeface="Leelawadee" panose="020B0502040204020203" pitchFamily="34" charset="-34"/>
                <a:ea typeface="Leelawadee" panose="020B0502040204020203" pitchFamily="34" charset="-34"/>
                <a:sym typeface="Arial" panose="020B0604020202020204" pitchFamily="34" charset="0"/>
              </a:rPr>
              <a:t>GAMBAR</a:t>
            </a:r>
          </a:p>
        </p:txBody>
      </p:sp>
      <p:sp>
        <p:nvSpPr>
          <p:cNvPr id="24702" name="Rectangle 11">
            <a:extLst>
              <a:ext uri="{FF2B5EF4-FFF2-40B4-BE49-F238E27FC236}">
                <a16:creationId xmlns:a16="http://schemas.microsoft.com/office/drawing/2014/main" id="{23C341CE-6438-B355-9469-2C0D3C7B9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36525"/>
            <a:ext cx="4319587" cy="1381125"/>
          </a:xfrm>
          <a:prstGeom prst="rect">
            <a:avLst/>
          </a:prstGeom>
          <a:solidFill>
            <a:srgbClr val="9BBB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FFFF"/>
                </a:solidFill>
                <a:latin typeface="Leelawadee" panose="020B0502040204020203" pitchFamily="34" charset="-34"/>
                <a:ea typeface="Adobe Heiti Std R" pitchFamily="34" charset="-128"/>
                <a:sym typeface="Arial" panose="020B0604020202020204" pitchFamily="34" charset="0"/>
              </a:rPr>
              <a:t>PROFIL ATLET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FFFF"/>
                </a:solidFill>
                <a:latin typeface="Leelawadee" panose="020B0502040204020203" pitchFamily="34" charset="-34"/>
                <a:ea typeface="Adobe Heiti Std R" pitchFamily="34" charset="-128"/>
                <a:sym typeface="Arial" panose="020B0604020202020204" pitchFamily="34" charset="0"/>
              </a:rPr>
              <a:t>PROGRAM PEMBANGUNAN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FFFF"/>
                </a:solidFill>
                <a:latin typeface="Leelawadee" panose="020B0502040204020203" pitchFamily="34" charset="-34"/>
                <a:ea typeface="Adobe Heiti Std R" pitchFamily="34" charset="-128"/>
                <a:sym typeface="Arial" panose="020B0604020202020204" pitchFamily="34" charset="0"/>
              </a:rPr>
              <a:t>SUKAN OLIMPIK</a:t>
            </a:r>
          </a:p>
        </p:txBody>
      </p:sp>
      <p:graphicFrame>
        <p:nvGraphicFramePr>
          <p:cNvPr id="4194308" name="Table 4194307">
            <a:extLst>
              <a:ext uri="{FF2B5EF4-FFF2-40B4-BE49-F238E27FC236}">
                <a16:creationId xmlns:a16="http://schemas.microsoft.com/office/drawing/2014/main" id="{FF2879B9-AE62-5D35-A2FF-AFB05C6790C6}"/>
              </a:ext>
            </a:extLst>
          </p:cNvPr>
          <p:cNvGraphicFramePr>
            <a:graphicFrameLocks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815">
                <a:tc>
                  <a:txBody>
                    <a:bodyPr/>
                    <a:lstStyle/>
                    <a:p>
                      <a:pPr lvl="0" algn="ctr" eaLnBrk="1" hangingPunct="1"/>
                      <a:r>
                        <a:rPr lang="en-US" altLang="en-US" sz="1400" b="1">
                          <a:solidFill>
                            <a:srgbClr val="FFFFFF"/>
                          </a:solidFill>
                          <a:latin typeface="Leelawadee" pitchFamily="34" charset="-34"/>
                          <a:ea typeface="Adobe Heiti Std R" pitchFamily="34" charset="-128"/>
                        </a:rPr>
                        <a:t>ULASAN PRESTASI KESELURUHAN</a:t>
                      </a:r>
                    </a:p>
                  </a:txBody>
                  <a:tcPr marL="91455" marR="91455" marT="46138" marB="46138" anchor="ctr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960">
                <a:tc>
                  <a:txBody>
                    <a:bodyPr/>
                    <a:lstStyle/>
                    <a:p>
                      <a:pPr lvl="0" algn="l" eaLnBrk="1" hangingPunct="1">
                        <a:lnSpc>
                          <a:spcPct val="200000"/>
                        </a:lnSpc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1. MEMPUNYAI KEYAKINAN YANG TINGGI</a:t>
                      </a:r>
                    </a:p>
                    <a:p>
                      <a:pPr lvl="0" algn="l" eaLnBrk="1" hangingPunct="1">
                        <a:lnSpc>
                          <a:spcPct val="200000"/>
                        </a:lnSpc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2. KEMAHIRAN YANG BAIK KERANA PENDEDAHAN PADA USIA LEBIH MUDA</a:t>
                      </a:r>
                    </a:p>
                    <a:p>
                      <a:pPr lvl="0" algn="l" eaLnBrk="1" hangingPunct="1">
                        <a:lnSpc>
                          <a:spcPct val="200000"/>
                        </a:lnSpc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3. PERLU TINGKATKAN KEKUATAN OTOT UNTUK LEBIH MUDAH MELAKUKAN KEMAHIRAN BARU</a:t>
                      </a:r>
                    </a:p>
                    <a:p>
                      <a:pPr lvl="0" algn="l" eaLnBrk="1" hangingPunct="1">
                        <a:lnSpc>
                          <a:spcPct val="200000"/>
                        </a:lnSpc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Leelawadee" pitchFamily="34" charset="-34"/>
                          <a:ea typeface="Leelawadee" pitchFamily="34" charset="-34"/>
                        </a:rPr>
                        <a:t>4. TINGKATKAN KEKUATAN MENTAL DAN PEMBANGUNAN KARAKTER JUARA</a:t>
                      </a:r>
                    </a:p>
                  </a:txBody>
                  <a:tcPr marL="91455" marR="91455" marT="46138" marB="46138">
                    <a:lnL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L>
                    <a:lnR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R>
                    <a:lnT w="381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T>
                    <a:lnB w="12700" cap="flat" cmpd="sng">
                      <a:solidFill>
                        <a:schemeClr val="lt1">
                          <a:alpha val="100000"/>
                        </a:schemeClr>
                      </a:solidFill>
                      <a:prstDash val="solid"/>
                      <a:round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4711" name="Picture 1">
            <a:extLst>
              <a:ext uri="{FF2B5EF4-FFF2-40B4-BE49-F238E27FC236}">
                <a16:creationId xmlns:a16="http://schemas.microsoft.com/office/drawing/2014/main" id="{75C80AE6-650B-E8C9-D382-8DAF3241A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3" y="120650"/>
            <a:ext cx="1336675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A18DD-0C16-619F-6A1B-D02FDF53BC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ALIFAH KHALISHA BINTI AHMAD RUHULLAH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110812-05-0140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B301BA-506A-D5EE-B90C-77235C65ACEE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KELANTAN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14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53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154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KAMIL, 16800 PASIR PUTEH, KELANTAN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JUNAIDI BIN AMIR HAMZAH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013 - 9221194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6CD585-2458-E459-4464-0EEC4D078F20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KE-4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SUKAN KELANTAN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KBOK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F71A0E-46A8-4B91-F16A-4CE3C9037533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31721FA-0C6A-4497-8F8C-191164B1320A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78B8A1-12CF-6668-13E3-EC89200B1631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7CEAE11-C665-8BEA-6A7A-DFD217BCD69A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71775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4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MEMPUNYAI KEYAKINAN TINGGI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BAIK DAN PENDEDAHAN DIUSIA MUDA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PERLU KESESUAIAN PERALATAN UNTUK LEBIH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LATIHAN YANG KONSISTEN DAN PEMAHAMAN KEMAHIRAN YANG LEBIH JELAS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BERANI MELAKUKAN KEMAHIRAN BARU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146" marB="4614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735" name="Picture 1">
            <a:extLst>
              <a:ext uri="{FF2B5EF4-FFF2-40B4-BE49-F238E27FC236}">
                <a16:creationId xmlns:a16="http://schemas.microsoft.com/office/drawing/2014/main" id="{5F6CBC4A-2534-A012-0F9E-F9F5CBE26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36525"/>
            <a:ext cx="1327150" cy="141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1192CA-623B-3DA4-B407-C0478D8736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WAN HANNAH BINTI WAN MAZLAN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10</a:t>
                      </a:r>
                      <a:r>
                        <a:rPr kumimoji="0" lang="en-MY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0414</a:t>
                      </a: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-1</a:t>
                      </a:r>
                      <a:r>
                        <a:rPr kumimoji="0" lang="en-MY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</a:t>
                      </a: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-0</a:t>
                      </a:r>
                      <a:r>
                        <a:rPr kumimoji="0" lang="en-MY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504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7FE5D1-8097-1F2B-EF9E-4F20B2502FE5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WILAYAH PERSEKETUAN KUALA LUMPUR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15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48 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</a:t>
                      </a: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50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SEK. </a:t>
                      </a: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MEN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. </a:t>
                      </a: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KEB. SEKSYEN 27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MOHD RIZUWAN BIN TOHARUDDIN 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012-274-6608 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7EE336-6AF9-4842-66ED-8410045252B0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527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10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 U15 TERBUKA UPM 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GOLD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KARNIVAL BAKAT OLIMPIK KEBANGSAAN SIRI 1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BRONZE 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 BAKAT R10AC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SILVER 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MSSD 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BRONZE </a:t>
                      </a: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1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2" marB="4571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E14602-A87A-5768-75F2-290264FB4201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9677718-B6C0-5D8C-1E10-7001B98F94BA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308875D-1A76-83DD-EA40-D276965B40B8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62250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278" marB="4627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MEMPUNYAI DISIPLIN DAN KARAKTER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BAIK TETAPI PERLU LEBIH BANYAK PENDEDAHAN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PERLU PERALATAN YANG BERSESUAIAN UNTUK LEBIH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MEMPUNYAI INISIATIF UNTUK MAJUKAN DIRI DAN PRESTASI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PERLU TINGKATKAN KEKUATAN OTOT UNTUK LEBIH MAJU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5" marR="91455" marT="46278" marB="462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6758" name="Picture 1">
            <a:extLst>
              <a:ext uri="{FF2B5EF4-FFF2-40B4-BE49-F238E27FC236}">
                <a16:creationId xmlns:a16="http://schemas.microsoft.com/office/drawing/2014/main" id="{C90EA995-C0FA-CADB-0DCC-16C4AA284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136525"/>
            <a:ext cx="1281112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D3BC25-F7C5-7C5A-A801-381D2739EE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NURUL QAISARA BATRISYIA BINTI MUHAMMAD ADAM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110819-06-0050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WANITA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3F6EF5-DABD-783A-04BD-AE264EA8D336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5733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6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PAHANG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14 TAHUN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55 KG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6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165 CM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SMK SULTANAH HAJJAH KALSOM, KUANTAN, PAHANG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NOR HAZLIZA BINTI MOHD NORFIZI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016-4486216</a:t>
                      </a:r>
                    </a:p>
                  </a:txBody>
                  <a:tcPr marL="91451" marR="91451" marT="45749" marB="4574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9FDB52-D79E-B5F6-C25C-F87449F50A72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47950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67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ms-MY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eelawadee" panose="020B0502040204020203" pitchFamily="34" charset="-34"/>
                          <a:ea typeface="+mn-ea"/>
                          <a:cs typeface="Leelawadee" panose="020B0502040204020203" pitchFamily="34" charset="-34"/>
                        </a:rPr>
                        <a:t>KEJ. MEMANAH BAKAT OLIMPIK SIRI 2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13-16 NOV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WOMEN U17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KE-9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TERBUKA PAHANG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29 OKT-2 NOV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WOMEN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 PERAK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6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MSSM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12-18 SEPT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WOMEN U15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TEMPAT KE-4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6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KEB.  U12 &amp; U15 SIRI 1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17-19 JAN 2025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 WOMEN U15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KE-13</a:t>
                      </a: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1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38960" marB="3896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400649-8579-44FD-1C55-DC1F4D8AE01C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8EC49F1-C8C6-F976-4872-3B0F82E3CE24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40BC7C-92CE-DF5B-0DCC-9C3676AC1C88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F5ACE4F-E864-6F9B-4AE8-C9F0FA33D5C6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41613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355" marB="4635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SIKAP YANG BAIK TETAPI RAGU-RAGU UNTUK BERTANYA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SEDERHANA DAN BERPOTENSI UNTUK LEBIH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PERLU TINGKATKAN KEKUATAN OTOT UNTUK KAWALAN BOW YANG LEBIH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PERLU LEBIH BERANI UNTUK MELAKUKAN KEMAHIRAN BARU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5. BERPOTENSI UNTUK MAJU SEKIRANYA LATIHAN  KONSISTEN</a:t>
                      </a:r>
                    </a:p>
                  </a:txBody>
                  <a:tcPr marL="91455" marR="91455" marT="46355" marB="4635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783" name="Picture 1">
            <a:extLst>
              <a:ext uri="{FF2B5EF4-FFF2-40B4-BE49-F238E27FC236}">
                <a16:creationId xmlns:a16="http://schemas.microsoft.com/office/drawing/2014/main" id="{F0540709-0745-648D-031C-F114BECE9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8" y="136525"/>
            <a:ext cx="1309687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5E26D8-B25B-A7AF-BD55-2C31D345B4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it-IT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EMIRA DAMIA BINTI SOKHIBUL FADHIL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110203-10-0472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13E75E-6AF8-8B79-8393-E33D04C96803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KUALA LUMPUR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14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64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SEK. SUKAN MALAYSIA PAHANG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FAZLI HISHAM BIN FAUZI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011 - 2802 579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44CB11-7C2D-56B1-C494-36D0EB28FB3D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647950"/>
        </p:xfrm>
        <a:graphic>
          <a:graphicData uri="http://schemas.openxmlformats.org/drawingml/2006/table">
            <a:tbl>
              <a:tblPr/>
              <a:tblGrid>
                <a:gridCol w="1732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92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September 2025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-</a:t>
                      </a:r>
                      <a:endParaRPr kumimoji="0" lang="en-US" alt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KEJ. MEMANAH KEB. 12 &amp; 15 TAHUN 2025 SIRI 1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19 </a:t>
                      </a:r>
                      <a:r>
                        <a:rPr kumimoji="0" lang="en-US" altLang="ms-MY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Januari</a:t>
                      </a:r>
                      <a:endParaRPr kumimoji="0" lang="en-US" alt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2025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- 3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fi-FI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MEMANAH BAKAT OLIMPIK KEB. SIRI 1 2025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 Jun 2025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BENTONG ARCHERY CHAMPIONSHIP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29 Jun 2025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EMAS</a:t>
                      </a: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699" marB="4569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8A0C21-F6A9-1DB4-26C8-C7862BECC4C8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62C77DB-4470-BB46-12E4-9F869CA1D914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5952B-BD50-B3DC-242A-5A5DE284BD63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715F4F-A228-9C51-EE17-FEDF4D61ADF0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55900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6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266" marB="46266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DISIPLIN YANG BAIK TETAPI KURANG KEYAKINAN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KEMAHIRAN YANG SEDERHANA TETAPI BERPOTENSI UNTUK LEBIH BAIK SEKIRANYA PEMAHAMAN KEMAHIRAN YANG JELAS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FIZIKAL YANG BAIK TETAPI PERLU TINGKATKAN KEKUATAN OTOT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MEMERLUKAN PENDEDAHAN DAN KHIDMAT KEJURULATIHAN YANG KONSISTEN UNTUK TERUS MAJU</a:t>
                      </a:r>
                    </a:p>
                  </a:txBody>
                  <a:tcPr marL="91455" marR="91455" marT="46266" marB="4626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8807" name="Picture 1">
            <a:extLst>
              <a:ext uri="{FF2B5EF4-FFF2-40B4-BE49-F238E27FC236}">
                <a16:creationId xmlns:a16="http://schemas.microsoft.com/office/drawing/2014/main" id="{A3A97DB0-58AF-2FA3-04C6-12BBF3988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17625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F96FB3-6ABB-C1BD-136E-7BF6776442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6375" y="136525"/>
          <a:ext cx="3167063" cy="1414463"/>
        </p:xfrm>
        <a:graphic>
          <a:graphicData uri="http://schemas.openxmlformats.org/drawingml/2006/table">
            <a:tbl>
              <a:tblPr/>
              <a:tblGrid>
                <a:gridCol w="1062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NAMA ATLET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NORAINA NABILLA BINTI MOHMAD ALI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NO K/P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090118-08-0846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SUKAN</a:t>
                      </a:r>
                      <a:endParaRPr kumimoji="0" lang="ms-MY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MEMANAH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ACARA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15" marR="91415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61C608-B409-11F4-C8DC-1609EAA60CDB}"/>
              </a:ext>
            </a:extLst>
          </p:cNvPr>
          <p:cNvGraphicFramePr>
            <a:graphicFrameLocks noGrp="1"/>
          </p:cNvGraphicFramePr>
          <p:nvPr/>
        </p:nvGraphicFramePr>
        <p:xfrm>
          <a:off x="106363" y="1573213"/>
          <a:ext cx="4537075" cy="2471737"/>
        </p:xfrm>
        <a:graphic>
          <a:graphicData uri="http://schemas.openxmlformats.org/drawingml/2006/table">
            <a:tbl>
              <a:tblPr/>
              <a:tblGrid>
                <a:gridCol w="17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3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DATA ATLET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NEGERI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UMUR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6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TAHUN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BERAT BADAN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59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KG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TINGGI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5</a:t>
                      </a: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 CM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SEKOLAH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SEK.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MEN. KEB. TEMENGGONG, KATI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JURULATIH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MOHAMAD NOOR AFFIZZAN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 PERHUBUNGAN IBUBAPA/ PENJAGA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01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9-4140524</a:t>
                      </a:r>
                    </a:p>
                  </a:txBody>
                  <a:tcPr marL="91451" marR="91451" marT="45744" marB="4574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6C761E-78E9-632E-8D54-EE07984F976D}"/>
              </a:ext>
            </a:extLst>
          </p:cNvPr>
          <p:cNvGraphicFramePr>
            <a:graphicFrameLocks noGrp="1"/>
          </p:cNvGraphicFramePr>
          <p:nvPr/>
        </p:nvGraphicFramePr>
        <p:xfrm>
          <a:off x="103188" y="4108450"/>
          <a:ext cx="4537075" cy="2576513"/>
        </p:xfrm>
        <a:graphic>
          <a:graphicData uri="http://schemas.openxmlformats.org/drawingml/2006/table">
            <a:tbl>
              <a:tblPr/>
              <a:tblGrid>
                <a:gridCol w="158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06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PENCAPAIAN 2025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KEJOHANAN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TARIKH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ACARA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CATATAN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MSSM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September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- 20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SAAC  ARCHERY CHAMPIONSHIP 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September 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- 6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SUKAN </a:t>
                      </a: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PERAK 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Julai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- 10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KEJ. BAKAT SIRI 2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Nov 2025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RECURVE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KE - 29</a:t>
                      </a: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Leelawadee" panose="020B0502040204020203" pitchFamily="34" charset="-34"/>
                        <a:cs typeface="Leelawadee" panose="020B0502040204020203" pitchFamily="34" charset="-34"/>
                      </a:endParaRPr>
                    </a:p>
                  </a:txBody>
                  <a:tcPr marL="91452" marR="91452"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256035-B5E3-103A-FAF7-410C0F8247CE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1577975"/>
          <a:ext cx="4321175" cy="2466975"/>
        </p:xfrm>
        <a:graphic>
          <a:graphicData uri="http://schemas.openxmlformats.org/drawingml/2006/table">
            <a:tbl>
              <a:tblPr/>
              <a:tblGrid>
                <a:gridCol w="431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75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UJIAN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UJIAN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KEPUTUSAN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kumimoji="0" lang="ms-MY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5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ms-MY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1455" marR="91455" marT="45738" marB="4573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CFBEB9D-F5AB-02FD-27D7-A8D056CF9F0E}"/>
              </a:ext>
            </a:extLst>
          </p:cNvPr>
          <p:cNvSpPr/>
          <p:nvPr/>
        </p:nvSpPr>
        <p:spPr>
          <a:xfrm>
            <a:off x="112713" y="136525"/>
            <a:ext cx="1290637" cy="137318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i="1" dirty="0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GAMBAR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B3AF2-09E5-8836-F74C-E3C401E203C4}"/>
              </a:ext>
            </a:extLst>
          </p:cNvPr>
          <p:cNvSpPr/>
          <p:nvPr/>
        </p:nvSpPr>
        <p:spPr>
          <a:xfrm>
            <a:off x="4716463" y="136525"/>
            <a:ext cx="4319587" cy="13811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PROFIL ATLET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PROGRAM PEMBANGUNAN </a:t>
            </a:r>
          </a:p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Leelawadee" panose="020B0502040204020203" pitchFamily="34" charset="-34"/>
                <a:ea typeface="Adobe Heiti Std R" pitchFamily="34" charset="-128"/>
                <a:cs typeface="Leelawadee" panose="020B0502040204020203" pitchFamily="34" charset="-34"/>
              </a:rPr>
              <a:t>SUKAN OLIMPIK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44D243-9987-3070-595D-7DD351DD3D62}"/>
              </a:ext>
            </a:extLst>
          </p:cNvPr>
          <p:cNvGraphicFramePr>
            <a:graphicFrameLocks noGrp="1"/>
          </p:cNvGraphicFramePr>
          <p:nvPr/>
        </p:nvGraphicFramePr>
        <p:xfrm>
          <a:off x="4716463" y="4105275"/>
          <a:ext cx="4321175" cy="2747963"/>
        </p:xfrm>
        <a:graphic>
          <a:graphicData uri="http://schemas.openxmlformats.org/drawingml/2006/table">
            <a:tbl>
              <a:tblPr/>
              <a:tblGrid>
                <a:gridCol w="432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eelawadee" panose="020B0502040204020203" pitchFamily="34" charset="-34"/>
                          <a:ea typeface="Adobe Heiti Std R" pitchFamily="34" charset="-128"/>
                          <a:cs typeface="Leelawadee" panose="020B0502040204020203" pitchFamily="34" charset="-34"/>
                        </a:rPr>
                        <a:t>ULASAN PRESTASI KESELURUHAN</a:t>
                      </a:r>
                      <a:endParaRPr kumimoji="0" lang="ms-MY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Leelawadee" panose="020B0502040204020203" pitchFamily="34" charset="-34"/>
                        <a:ea typeface="Adobe Heiti Std R" pitchFamily="34" charset="-128"/>
                        <a:cs typeface="Leelawadee" panose="020B0502040204020203" pitchFamily="34" charset="-34"/>
                      </a:endParaRPr>
                    </a:p>
                  </a:txBody>
                  <a:tcPr marL="91455" marR="91455" marT="46279" marB="462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1. BERDISPLIN DAN SIKAP YANG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2. PERLU TINGKATKAN KEKUATAN OTOT UNTUK KAWALAN BOW YANG LEBIH BAIK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3. KEMAHIRAN YANG SEDERHANA KERANA KURANG PENDEDAHAN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ms-MY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Leelawadee" panose="020B0502040204020203" pitchFamily="34" charset="-34"/>
                          <a:cs typeface="Leelawadee" panose="020B0502040204020203" pitchFamily="34" charset="-34"/>
                        </a:rPr>
                        <a:t>4. BERPOTENSI UNTUK LEBIH MAJU SEKIRANYA LATIHAN YANG KONSISTEN DAN BANTUAN KEJURULATIHAN YANG BAIK</a:t>
                      </a:r>
                    </a:p>
                  </a:txBody>
                  <a:tcPr marL="91455" marR="91455" marT="46279" marB="4627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9831" name="Picture 1">
            <a:extLst>
              <a:ext uri="{FF2B5EF4-FFF2-40B4-BE49-F238E27FC236}">
                <a16:creationId xmlns:a16="http://schemas.microsoft.com/office/drawing/2014/main" id="{0E532E53-D677-20EE-61E9-C4D9D53B0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136525"/>
            <a:ext cx="1331912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9*113"/>
  <p:tag name="TABLE_ENDDRAG_RECT" val="116*10*249*1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32519</TotalTime>
  <Words>4032</Words>
  <Application>Microsoft Macintosh PowerPoint</Application>
  <PresentationFormat>On-screen Show (4:3)</PresentationFormat>
  <Paragraphs>1575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Britannic Bold</vt:lpstr>
      <vt:lpstr>Leelawadee</vt:lpstr>
      <vt:lpstr>Adobe Heiti Std R</vt:lpstr>
      <vt:lpstr>Arial Narrow</vt:lpstr>
      <vt:lpstr>SimSun</vt:lpstr>
      <vt:lpstr>Office Theme</vt:lpstr>
      <vt:lpstr>PROFILE ATLET MEMANAH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jefri</dc:creator>
  <cp:lastModifiedBy>Ainaa Dalila Erwan</cp:lastModifiedBy>
  <cp:revision>418</cp:revision>
  <cp:lastPrinted>2019-10-14T08:17:43Z</cp:lastPrinted>
  <dcterms:created xsi:type="dcterms:W3CDTF">2016-11-28T08:38:00Z</dcterms:created>
  <dcterms:modified xsi:type="dcterms:W3CDTF">2026-04-12T12:26:46Z</dcterms:modified>
</cp:coreProperties>
</file>